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206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06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06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rgbClr val="206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7452" y="-53271"/>
            <a:ext cx="6416675" cy="2264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rgbClr val="206D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9724" y="3651967"/>
            <a:ext cx="6811645" cy="3597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06069" y="96521"/>
            <a:ext cx="6858000" cy="6477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925"/>
              </a:spcBef>
            </a:pPr>
            <a:r>
              <a:rPr sz="2000" spc="70" dirty="0">
                <a:solidFill>
                  <a:srgbClr val="B6FF98"/>
                </a:solidFill>
                <a:latin typeface="Verdana"/>
                <a:cs typeface="Verdana"/>
              </a:rPr>
              <a:t>Project</a:t>
            </a:r>
            <a:r>
              <a:rPr sz="2000" spc="-130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B6FF98"/>
                </a:solidFill>
                <a:latin typeface="Verdana"/>
                <a:cs typeface="Verdana"/>
              </a:rPr>
              <a:t>Overview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06069" y="794158"/>
            <a:ext cx="6811645" cy="4261488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70"/>
              </a:spcBef>
            </a:pPr>
            <a:r>
              <a:rPr dirty="0"/>
              <a:t>In</a:t>
            </a:r>
            <a:r>
              <a:rPr spc="-20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project,</a:t>
            </a:r>
            <a:r>
              <a:rPr spc="-20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will</a:t>
            </a:r>
            <a:r>
              <a:rPr spc="-20" dirty="0"/>
              <a:t> </a:t>
            </a:r>
            <a:r>
              <a:rPr dirty="0"/>
              <a:t>build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sophisticated</a:t>
            </a:r>
            <a:r>
              <a:rPr spc="-20" dirty="0"/>
              <a:t> </a:t>
            </a:r>
            <a:r>
              <a:rPr b="1" spc="-10" dirty="0">
                <a:latin typeface="Arial"/>
                <a:cs typeface="Arial"/>
              </a:rPr>
              <a:t>Multi-</a:t>
            </a:r>
            <a:r>
              <a:rPr b="1" dirty="0">
                <a:latin typeface="Arial"/>
                <a:cs typeface="Arial"/>
              </a:rPr>
              <a:t>Modal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AI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System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designed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solve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massive</a:t>
            </a:r>
            <a:r>
              <a:rPr spc="-25" dirty="0"/>
              <a:t> </a:t>
            </a:r>
            <a:r>
              <a:rPr dirty="0"/>
              <a:t>enterprise</a:t>
            </a:r>
            <a:r>
              <a:rPr spc="-20" dirty="0"/>
              <a:t> </a:t>
            </a:r>
            <a:r>
              <a:rPr dirty="0"/>
              <a:t>headache:</a:t>
            </a:r>
            <a:r>
              <a:rPr spc="-20" dirty="0"/>
              <a:t> </a:t>
            </a:r>
            <a:r>
              <a:rPr dirty="0"/>
              <a:t>Manual</a:t>
            </a:r>
            <a:r>
              <a:rPr spc="-25" dirty="0"/>
              <a:t> </a:t>
            </a:r>
            <a:r>
              <a:rPr spc="-20" dirty="0"/>
              <a:t>Video</a:t>
            </a:r>
            <a:r>
              <a:rPr spc="-80" dirty="0"/>
              <a:t> </a:t>
            </a:r>
            <a:r>
              <a:rPr dirty="0"/>
              <a:t>Auditing.</a:t>
            </a:r>
            <a:r>
              <a:rPr spc="-20" dirty="0"/>
              <a:t> </a:t>
            </a:r>
            <a:r>
              <a:rPr dirty="0"/>
              <a:t>Instead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humans</a:t>
            </a:r>
            <a:r>
              <a:rPr spc="-20" dirty="0"/>
              <a:t> </a:t>
            </a:r>
            <a:r>
              <a:rPr spc="-10" dirty="0"/>
              <a:t>watching </a:t>
            </a:r>
            <a:r>
              <a:rPr dirty="0"/>
              <a:t>hours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footage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find</a:t>
            </a:r>
            <a:r>
              <a:rPr spc="-25" dirty="0"/>
              <a:t> </a:t>
            </a:r>
            <a:r>
              <a:rPr dirty="0"/>
              <a:t>regulatory</a:t>
            </a:r>
            <a:r>
              <a:rPr spc="-20" dirty="0"/>
              <a:t> </a:t>
            </a:r>
            <a:r>
              <a:rPr dirty="0"/>
              <a:t>violations,</a:t>
            </a:r>
            <a:r>
              <a:rPr spc="-25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engineer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autonomous</a:t>
            </a:r>
            <a:r>
              <a:rPr spc="-20" dirty="0"/>
              <a:t> </a:t>
            </a:r>
            <a:r>
              <a:rPr spc="-10" dirty="0"/>
              <a:t>agent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does</a:t>
            </a:r>
            <a:r>
              <a:rPr spc="-1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seconds.</a:t>
            </a:r>
          </a:p>
          <a:p>
            <a:pPr marL="12700" marR="20955">
              <a:lnSpc>
                <a:spcPct val="118300"/>
              </a:lnSpc>
              <a:spcBef>
                <a:spcPts val="1165"/>
              </a:spcBef>
            </a:pPr>
            <a:r>
              <a:rPr spc="-25" dirty="0"/>
              <a:t>You</a:t>
            </a:r>
            <a:r>
              <a:rPr spc="-30" dirty="0"/>
              <a:t> </a:t>
            </a:r>
            <a:r>
              <a:rPr dirty="0"/>
              <a:t>will</a:t>
            </a:r>
            <a:r>
              <a:rPr spc="-30" dirty="0"/>
              <a:t> </a:t>
            </a:r>
            <a:r>
              <a:rPr dirty="0"/>
              <a:t>act</a:t>
            </a:r>
            <a:r>
              <a:rPr spc="-3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b="1" dirty="0">
                <a:latin typeface="Arial"/>
                <a:cs typeface="Arial"/>
              </a:rPr>
              <a:t>Cloud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AI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Architect</a:t>
            </a:r>
            <a:r>
              <a:rPr dirty="0"/>
              <a:t>.</a:t>
            </a:r>
            <a:r>
              <a:rPr spc="-50" dirty="0"/>
              <a:t> </a:t>
            </a:r>
            <a:r>
              <a:rPr spc="-25" dirty="0"/>
              <a:t>You</a:t>
            </a:r>
            <a:r>
              <a:rPr spc="-30" dirty="0"/>
              <a:t> </a:t>
            </a:r>
            <a:r>
              <a:rPr dirty="0"/>
              <a:t>will</a:t>
            </a:r>
            <a:r>
              <a:rPr spc="-30" dirty="0"/>
              <a:t> </a:t>
            </a:r>
            <a:r>
              <a:rPr dirty="0"/>
              <a:t>leverage</a:t>
            </a:r>
            <a:r>
              <a:rPr spc="-25" dirty="0"/>
              <a:t> </a:t>
            </a:r>
            <a:r>
              <a:rPr b="1" dirty="0">
                <a:latin typeface="Arial"/>
                <a:cs typeface="Arial"/>
              </a:rPr>
              <a:t>Azure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Video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Indexer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ingest </a:t>
            </a:r>
            <a:r>
              <a:rPr dirty="0"/>
              <a:t>raw</a:t>
            </a:r>
            <a:r>
              <a:rPr spc="-25" dirty="0"/>
              <a:t> </a:t>
            </a:r>
            <a:r>
              <a:rPr dirty="0"/>
              <a:t>video</a:t>
            </a:r>
            <a:r>
              <a:rPr spc="-25" dirty="0"/>
              <a:t> </a:t>
            </a:r>
            <a:r>
              <a:rPr dirty="0"/>
              <a:t>files,</a:t>
            </a:r>
            <a:r>
              <a:rPr spc="-25" dirty="0"/>
              <a:t> </a:t>
            </a:r>
            <a:r>
              <a:rPr dirty="0"/>
              <a:t>extracting</a:t>
            </a:r>
            <a:r>
              <a:rPr spc="-25" dirty="0"/>
              <a:t> </a:t>
            </a:r>
            <a:r>
              <a:rPr dirty="0"/>
              <a:t>transcripts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OCR</a:t>
            </a:r>
            <a:r>
              <a:rPr spc="-20" dirty="0"/>
              <a:t> </a:t>
            </a:r>
            <a:r>
              <a:rPr dirty="0"/>
              <a:t>data.</a:t>
            </a:r>
            <a:r>
              <a:rPr spc="-2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b="1" dirty="0">
                <a:latin typeface="Arial"/>
                <a:cs typeface="Arial"/>
              </a:rPr>
              <a:t>LangGraph</a:t>
            </a:r>
            <a:r>
              <a:rPr dirty="0"/>
              <a:t>,</a:t>
            </a:r>
            <a:r>
              <a:rPr spc="-25" dirty="0"/>
              <a:t> </a:t>
            </a:r>
            <a:r>
              <a:rPr dirty="0"/>
              <a:t>you</a:t>
            </a:r>
            <a:r>
              <a:rPr spc="-25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spc="-10" dirty="0"/>
              <a:t>build</a:t>
            </a:r>
            <a:r>
              <a:rPr spc="50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stateful</a:t>
            </a:r>
            <a:r>
              <a:rPr spc="-25" dirty="0"/>
              <a:t> </a:t>
            </a:r>
            <a:r>
              <a:rPr dirty="0"/>
              <a:t>orchestration</a:t>
            </a:r>
            <a:r>
              <a:rPr spc="-25" dirty="0"/>
              <a:t> </a:t>
            </a:r>
            <a:r>
              <a:rPr dirty="0"/>
              <a:t>pipeline</a:t>
            </a:r>
            <a:r>
              <a:rPr spc="-2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spc="-10" dirty="0"/>
              <a:t>cross-</a:t>
            </a:r>
            <a:r>
              <a:rPr dirty="0"/>
              <a:t>references</a:t>
            </a:r>
            <a:r>
              <a:rPr spc="-25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video</a:t>
            </a:r>
            <a:r>
              <a:rPr spc="-25" dirty="0"/>
              <a:t> </a:t>
            </a:r>
            <a:r>
              <a:rPr dirty="0"/>
              <a:t>content</a:t>
            </a:r>
            <a:r>
              <a:rPr spc="-25" dirty="0"/>
              <a:t> </a:t>
            </a:r>
            <a:r>
              <a:rPr dirty="0"/>
              <a:t>against</a:t>
            </a:r>
            <a:r>
              <a:rPr spc="-25" dirty="0"/>
              <a:t> </a:t>
            </a:r>
            <a:r>
              <a:rPr spc="-50" dirty="0"/>
              <a:t>a </a:t>
            </a:r>
            <a:r>
              <a:rPr dirty="0"/>
              <a:t>database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complex</a:t>
            </a:r>
            <a:r>
              <a:rPr spc="-15" dirty="0"/>
              <a:t> </a:t>
            </a:r>
            <a:r>
              <a:rPr dirty="0"/>
              <a:t>compliance</a:t>
            </a:r>
            <a:r>
              <a:rPr spc="-15" dirty="0"/>
              <a:t> </a:t>
            </a:r>
            <a:r>
              <a:rPr dirty="0"/>
              <a:t>rules</a:t>
            </a:r>
            <a:r>
              <a:rPr spc="-20" dirty="0"/>
              <a:t> </a:t>
            </a:r>
            <a:r>
              <a:rPr dirty="0"/>
              <a:t>using</a:t>
            </a:r>
            <a:r>
              <a:rPr spc="-15" dirty="0"/>
              <a:t> </a:t>
            </a:r>
            <a:r>
              <a:rPr b="1" dirty="0">
                <a:latin typeface="Arial"/>
                <a:cs typeface="Arial"/>
              </a:rPr>
              <a:t>RAG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(Retrieval-Augmented Generation)</a:t>
            </a:r>
            <a:r>
              <a:rPr spc="-10" dirty="0"/>
              <a:t>.</a:t>
            </a:r>
            <a:endParaRPr lang="en-US" spc="-10" dirty="0"/>
          </a:p>
          <a:p>
            <a:pPr marL="12700" marR="20955">
              <a:lnSpc>
                <a:spcPct val="118300"/>
              </a:lnSpc>
              <a:spcBef>
                <a:spcPts val="1165"/>
              </a:spcBef>
            </a:pPr>
            <a:r>
              <a:rPr spc="-10" dirty="0"/>
              <a:t>Crucially,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25" dirty="0"/>
              <a:t> </a:t>
            </a:r>
            <a:r>
              <a:rPr dirty="0"/>
              <a:t>focuses</a:t>
            </a:r>
            <a:r>
              <a:rPr spc="-2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b="1" spc="-10" dirty="0">
                <a:latin typeface="Arial"/>
                <a:cs typeface="Arial"/>
              </a:rPr>
              <a:t>"Production-</a:t>
            </a:r>
            <a:r>
              <a:rPr b="1" dirty="0">
                <a:latin typeface="Arial"/>
                <a:cs typeface="Arial"/>
              </a:rPr>
              <a:t>Grade</a:t>
            </a:r>
            <a:r>
              <a:rPr b="1" spc="-7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AI"</a:t>
            </a:r>
            <a:r>
              <a:rPr dirty="0"/>
              <a:t>.</a:t>
            </a:r>
            <a:r>
              <a:rPr spc="-45" dirty="0"/>
              <a:t> </a:t>
            </a:r>
            <a:r>
              <a:rPr spc="-25" dirty="0"/>
              <a:t>You </a:t>
            </a:r>
            <a:r>
              <a:rPr dirty="0"/>
              <a:t>won't</a:t>
            </a:r>
            <a:r>
              <a:rPr spc="-20" dirty="0"/>
              <a:t> </a:t>
            </a:r>
            <a:r>
              <a:rPr dirty="0"/>
              <a:t>just</a:t>
            </a:r>
            <a:r>
              <a:rPr spc="-20" dirty="0"/>
              <a:t> </a:t>
            </a:r>
            <a:r>
              <a:rPr spc="-10" dirty="0"/>
              <a:t>generate </a:t>
            </a:r>
            <a:r>
              <a:rPr dirty="0"/>
              <a:t>answers;</a:t>
            </a:r>
            <a:r>
              <a:rPr spc="-25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trace</a:t>
            </a:r>
            <a:r>
              <a:rPr spc="-20" dirty="0"/>
              <a:t> </a:t>
            </a:r>
            <a:r>
              <a:rPr dirty="0"/>
              <a:t>every</a:t>
            </a:r>
            <a:r>
              <a:rPr spc="-25" dirty="0"/>
              <a:t> </a:t>
            </a:r>
            <a:r>
              <a:rPr dirty="0"/>
              <a:t>step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reasoning</a:t>
            </a:r>
            <a:r>
              <a:rPr spc="-25" dirty="0"/>
              <a:t> </a:t>
            </a:r>
            <a:r>
              <a:rPr dirty="0"/>
              <a:t>process</a:t>
            </a:r>
            <a:r>
              <a:rPr spc="-20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b="1" dirty="0">
                <a:latin typeface="Arial"/>
                <a:cs typeface="Arial"/>
              </a:rPr>
              <a:t>LangSmith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-25" dirty="0"/>
              <a:t>and </a:t>
            </a:r>
            <a:r>
              <a:rPr dirty="0"/>
              <a:t>monitor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system’s</a:t>
            </a:r>
            <a:r>
              <a:rPr spc="-35" dirty="0"/>
              <a:t> </a:t>
            </a:r>
            <a:r>
              <a:rPr dirty="0"/>
              <a:t>health</a:t>
            </a:r>
            <a:r>
              <a:rPr spc="-3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b="1" dirty="0">
                <a:latin typeface="Arial"/>
                <a:cs typeface="Arial"/>
              </a:rPr>
              <a:t>Azure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Application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Insights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transforming </a:t>
            </a:r>
            <a:r>
              <a:rPr dirty="0"/>
              <a:t>unstructured</a:t>
            </a:r>
            <a:r>
              <a:rPr spc="-40" dirty="0"/>
              <a:t> </a:t>
            </a:r>
            <a:r>
              <a:rPr dirty="0"/>
              <a:t>video</a:t>
            </a:r>
            <a:r>
              <a:rPr spc="-35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structured,</a:t>
            </a:r>
            <a:r>
              <a:rPr spc="-40" dirty="0"/>
              <a:t> </a:t>
            </a:r>
            <a:r>
              <a:rPr dirty="0"/>
              <a:t>actionable</a:t>
            </a:r>
            <a:r>
              <a:rPr spc="-35" dirty="0"/>
              <a:t> </a:t>
            </a:r>
            <a:r>
              <a:rPr dirty="0"/>
              <a:t>JSON</a:t>
            </a:r>
            <a:r>
              <a:rPr spc="-35" dirty="0"/>
              <a:t> </a:t>
            </a:r>
            <a:r>
              <a:rPr dirty="0"/>
              <a:t>compliance</a:t>
            </a:r>
            <a:r>
              <a:rPr spc="-35" dirty="0"/>
              <a:t> </a:t>
            </a:r>
            <a:r>
              <a:rPr spc="-10" dirty="0"/>
              <a:t>reports.</a:t>
            </a:r>
            <a:endParaRPr lang="en-US" spc="-10" dirty="0"/>
          </a:p>
          <a:p>
            <a:pPr marL="12700" marR="20955">
              <a:lnSpc>
                <a:spcPct val="118300"/>
              </a:lnSpc>
              <a:spcBef>
                <a:spcPts val="1165"/>
              </a:spcBef>
            </a:pPr>
            <a:r>
              <a:rPr lang="en-US" b="1" dirty="0">
                <a:latin typeface="Arial"/>
                <a:cs typeface="Arial"/>
              </a:rPr>
              <a:t>Azure</a:t>
            </a:r>
            <a:r>
              <a:rPr lang="en-US" b="1" spc="-5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AI</a:t>
            </a:r>
            <a:r>
              <a:rPr lang="en-US" b="1" spc="-1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Ecosystem:</a:t>
            </a:r>
            <a:r>
              <a:rPr lang="en-US" b="1" spc="-10" dirty="0">
                <a:latin typeface="Arial"/>
                <a:cs typeface="Arial"/>
              </a:rPr>
              <a:t> </a:t>
            </a:r>
            <a:r>
              <a:rPr lang="en-US" dirty="0"/>
              <a:t>Get</a:t>
            </a:r>
            <a:r>
              <a:rPr lang="en-US" spc="-10" dirty="0"/>
              <a:t> </a:t>
            </a:r>
            <a:r>
              <a:rPr lang="en-US" dirty="0"/>
              <a:t>hands-on</a:t>
            </a:r>
            <a:r>
              <a:rPr lang="en-US" spc="-10" dirty="0"/>
              <a:t> </a:t>
            </a:r>
            <a:r>
              <a:rPr lang="en-US" dirty="0"/>
              <a:t>experience</a:t>
            </a:r>
            <a:r>
              <a:rPr lang="en-US" spc="-10" dirty="0"/>
              <a:t> </a:t>
            </a:r>
            <a:r>
              <a:rPr lang="en-US" dirty="0"/>
              <a:t>with</a:t>
            </a:r>
            <a:r>
              <a:rPr lang="en-US" spc="-10" dirty="0"/>
              <a:t> </a:t>
            </a:r>
            <a:r>
              <a:rPr lang="en-US" dirty="0"/>
              <a:t>the</a:t>
            </a:r>
            <a:r>
              <a:rPr lang="en-US" spc="-10" dirty="0"/>
              <a:t> </a:t>
            </a:r>
            <a:r>
              <a:rPr lang="en-US" dirty="0"/>
              <a:t>full</a:t>
            </a:r>
            <a:r>
              <a:rPr lang="en-US" spc="-5" dirty="0"/>
              <a:t> </a:t>
            </a:r>
            <a:r>
              <a:rPr lang="en-US" dirty="0"/>
              <a:t>suite:</a:t>
            </a:r>
            <a:r>
              <a:rPr lang="en-US" spc="-10" dirty="0"/>
              <a:t> </a:t>
            </a:r>
            <a:r>
              <a:rPr lang="en-US" dirty="0"/>
              <a:t>Video</a:t>
            </a:r>
            <a:r>
              <a:rPr lang="en-US" spc="-10" dirty="0"/>
              <a:t> </a:t>
            </a:r>
            <a:r>
              <a:rPr lang="en-US" dirty="0"/>
              <a:t>Indexer,</a:t>
            </a:r>
            <a:r>
              <a:rPr lang="en-US" spc="-10" dirty="0"/>
              <a:t> </a:t>
            </a:r>
            <a:r>
              <a:rPr lang="en-US" dirty="0"/>
              <a:t>OpenAI,</a:t>
            </a:r>
            <a:r>
              <a:rPr lang="en-US" spc="-80" dirty="0"/>
              <a:t> </a:t>
            </a:r>
            <a:r>
              <a:rPr lang="en-US" spc="-25" dirty="0"/>
              <a:t>AI </a:t>
            </a:r>
            <a:r>
              <a:rPr lang="en-US" dirty="0"/>
              <a:t>Search, and</a:t>
            </a:r>
            <a:r>
              <a:rPr lang="en-US" spc="-70" dirty="0"/>
              <a:t> </a:t>
            </a:r>
            <a:r>
              <a:rPr lang="en-US" dirty="0"/>
              <a:t>App </a:t>
            </a:r>
            <a:r>
              <a:rPr lang="en-US" spc="-10" dirty="0"/>
              <a:t>Insights.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234312" y="8166100"/>
            <a:ext cx="6929755" cy="426399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925"/>
              </a:spcBef>
            </a:pPr>
            <a:r>
              <a:rPr sz="2000" spc="140" dirty="0">
                <a:solidFill>
                  <a:srgbClr val="B6FF98"/>
                </a:solidFill>
                <a:latin typeface="Verdana"/>
                <a:cs typeface="Verdana"/>
              </a:rPr>
              <a:t>What</a:t>
            </a:r>
            <a:r>
              <a:rPr sz="2000" spc="-105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B6FF98"/>
                </a:solidFill>
                <a:latin typeface="Verdana"/>
                <a:cs typeface="Verdana"/>
              </a:rPr>
              <a:t>you</a:t>
            </a:r>
            <a:r>
              <a:rPr sz="2000" spc="-110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375" dirty="0">
                <a:solidFill>
                  <a:srgbClr val="B6FF98"/>
                </a:solidFill>
                <a:latin typeface="Verdana"/>
                <a:cs typeface="Verdana"/>
              </a:rPr>
              <a:t>will</a:t>
            </a:r>
            <a:r>
              <a:rPr sz="2000" spc="-105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B6FF98"/>
                </a:solidFill>
                <a:latin typeface="Verdana"/>
                <a:cs typeface="Verdana"/>
              </a:rPr>
              <a:t>Learn?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363" y="8928100"/>
            <a:ext cx="6891655" cy="128580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60"/>
              </a:spcBef>
            </a:pPr>
            <a:r>
              <a:rPr sz="1200" b="1" spc="-10" dirty="0">
                <a:latin typeface="Arial"/>
                <a:cs typeface="Arial"/>
              </a:rPr>
              <a:t>Multi-</a:t>
            </a:r>
            <a:r>
              <a:rPr sz="1200" b="1" dirty="0">
                <a:latin typeface="Arial"/>
                <a:cs typeface="Arial"/>
              </a:rPr>
              <a:t>Modal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AI: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Master the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workflow of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processing </a:t>
            </a:r>
            <a:r>
              <a:rPr sz="1200" spc="-10" dirty="0">
                <a:latin typeface="Arial MT"/>
                <a:cs typeface="Arial MT"/>
              </a:rPr>
              <a:t>Video,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Audio,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Text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 a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single </a:t>
            </a:r>
            <a:r>
              <a:rPr sz="1200" spc="-10" dirty="0">
                <a:latin typeface="Arial MT"/>
                <a:cs typeface="Arial MT"/>
              </a:rPr>
              <a:t>pipeline. </a:t>
            </a:r>
            <a:r>
              <a:rPr sz="1200" b="1" dirty="0">
                <a:latin typeface="Arial"/>
                <a:cs typeface="Arial"/>
              </a:rPr>
              <a:t>LangGraph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Orchestration: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Learn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build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complex,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non-linear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AI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workflows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go</a:t>
            </a:r>
            <a:r>
              <a:rPr sz="1200" spc="-10" dirty="0">
                <a:latin typeface="Arial MT"/>
                <a:cs typeface="Arial MT"/>
              </a:rPr>
              <a:t> beyond </a:t>
            </a:r>
            <a:r>
              <a:rPr sz="1200" dirty="0">
                <a:latin typeface="Arial MT"/>
                <a:cs typeface="Arial MT"/>
              </a:rPr>
              <a:t>standard LangChain </a:t>
            </a:r>
            <a:r>
              <a:rPr sz="1200" spc="-10" dirty="0">
                <a:latin typeface="Arial MT"/>
                <a:cs typeface="Arial MT"/>
              </a:rPr>
              <a:t>sequences.</a:t>
            </a: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b="1" dirty="0">
                <a:latin typeface="Arial"/>
                <a:cs typeface="Arial"/>
              </a:rPr>
              <a:t>Enterprise RAG: </a:t>
            </a:r>
            <a:r>
              <a:rPr sz="1200" dirty="0">
                <a:latin typeface="Arial MT"/>
                <a:cs typeface="Arial MT"/>
              </a:rPr>
              <a:t>Implement RAG using the powerful </a:t>
            </a:r>
            <a:r>
              <a:rPr sz="1200" b="1" dirty="0">
                <a:latin typeface="Arial"/>
                <a:cs typeface="Arial"/>
              </a:rPr>
              <a:t>Azure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AI Search </a:t>
            </a:r>
            <a:r>
              <a:rPr sz="1200" spc="-10" dirty="0">
                <a:latin typeface="Arial MT"/>
                <a:cs typeface="Arial MT"/>
              </a:rPr>
              <a:t>service.</a:t>
            </a:r>
            <a:endParaRPr sz="1200" dirty="0">
              <a:latin typeface="Arial MT"/>
              <a:cs typeface="Arial MT"/>
            </a:endParaRPr>
          </a:p>
          <a:p>
            <a:pPr marL="12700" marR="95250">
              <a:lnSpc>
                <a:spcPct val="114599"/>
              </a:lnSpc>
              <a:spcBef>
                <a:spcPts val="75"/>
              </a:spcBef>
            </a:pPr>
            <a:r>
              <a:rPr sz="1200" b="1" dirty="0">
                <a:latin typeface="Arial"/>
                <a:cs typeface="Arial"/>
              </a:rPr>
              <a:t>LLM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Observability: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Gain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critical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skill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senior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engineers: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using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b="1" dirty="0">
                <a:latin typeface="Arial"/>
                <a:cs typeface="Arial"/>
              </a:rPr>
              <a:t>LangSmith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debug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and </a:t>
            </a:r>
            <a:r>
              <a:rPr sz="1200" dirty="0">
                <a:latin typeface="Arial MT"/>
                <a:cs typeface="Arial MT"/>
              </a:rPr>
              <a:t>optimize complex LLM </a:t>
            </a:r>
            <a:r>
              <a:rPr sz="1200" spc="-10" dirty="0">
                <a:latin typeface="Arial MT"/>
                <a:cs typeface="Arial MT"/>
              </a:rPr>
              <a:t>applications.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11B69CEB-6D84-DCEF-BACC-6DB00DCD7276}"/>
              </a:ext>
            </a:extLst>
          </p:cNvPr>
          <p:cNvSpPr txBox="1"/>
          <p:nvPr/>
        </p:nvSpPr>
        <p:spPr>
          <a:xfrm>
            <a:off x="237486" y="5366796"/>
            <a:ext cx="6923405" cy="426399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925"/>
              </a:spcBef>
            </a:pPr>
            <a:r>
              <a:rPr sz="2000" spc="125" dirty="0">
                <a:solidFill>
                  <a:srgbClr val="B6FF98"/>
                </a:solidFill>
                <a:latin typeface="Verdana"/>
                <a:cs typeface="Verdana"/>
              </a:rPr>
              <a:t>Why</a:t>
            </a:r>
            <a:r>
              <a:rPr sz="2000" spc="-140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175" dirty="0">
                <a:solidFill>
                  <a:srgbClr val="B6FF98"/>
                </a:solidFill>
                <a:latin typeface="Verdana"/>
                <a:cs typeface="Verdana"/>
              </a:rPr>
              <a:t>this</a:t>
            </a:r>
            <a:r>
              <a:rPr sz="2000" spc="-140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B6FF98"/>
                </a:solidFill>
                <a:latin typeface="Verdana"/>
                <a:cs typeface="Verdana"/>
              </a:rPr>
              <a:t>Project?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F1CD2C44-EBF6-E31F-134E-053F6566DF58}"/>
              </a:ext>
            </a:extLst>
          </p:cNvPr>
          <p:cNvSpPr txBox="1"/>
          <p:nvPr/>
        </p:nvSpPr>
        <p:spPr>
          <a:xfrm>
            <a:off x="270191" y="5896265"/>
            <a:ext cx="6929755" cy="149271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188595">
              <a:lnSpc>
                <a:spcPts val="1580"/>
              </a:lnSpc>
              <a:spcBef>
                <a:spcPts val="240"/>
              </a:spcBef>
            </a:pPr>
            <a:r>
              <a:rPr sz="1400" b="1" spc="-10" dirty="0">
                <a:latin typeface="Arial"/>
                <a:cs typeface="Arial"/>
              </a:rPr>
              <a:t>Multi-</a:t>
            </a:r>
            <a:r>
              <a:rPr sz="1400" b="1" dirty="0">
                <a:latin typeface="Arial"/>
                <a:cs typeface="Arial"/>
              </a:rPr>
              <a:t>Modal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is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the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Future: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spc="-45" dirty="0">
                <a:latin typeface="Arial MT"/>
                <a:cs typeface="Arial MT"/>
              </a:rPr>
              <a:t>Text-</a:t>
            </a:r>
            <a:r>
              <a:rPr sz="1400" dirty="0">
                <a:latin typeface="Arial MT"/>
                <a:cs typeface="Arial MT"/>
              </a:rPr>
              <a:t>only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 becoming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standard.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Adding </a:t>
            </a:r>
            <a:r>
              <a:rPr sz="1400" b="1" spc="-10" dirty="0">
                <a:latin typeface="Arial"/>
                <a:cs typeface="Arial"/>
              </a:rPr>
              <a:t>Video </a:t>
            </a:r>
            <a:r>
              <a:rPr sz="1400" b="1" dirty="0">
                <a:latin typeface="Arial"/>
                <a:cs typeface="Arial"/>
              </a:rPr>
              <a:t>Processing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puts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top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tier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engineers.</a:t>
            </a:r>
            <a:endParaRPr sz="1400" dirty="0">
              <a:latin typeface="Arial MT"/>
              <a:cs typeface="Arial MT"/>
            </a:endParaRPr>
          </a:p>
          <a:p>
            <a:pPr marL="12700" marR="5080">
              <a:lnSpc>
                <a:spcPts val="1580"/>
              </a:lnSpc>
              <a:spcBef>
                <a:spcPts val="65"/>
              </a:spcBef>
            </a:pPr>
            <a:r>
              <a:rPr sz="1400" b="1" dirty="0">
                <a:latin typeface="Arial"/>
                <a:cs typeface="Arial"/>
              </a:rPr>
              <a:t>"Black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Box"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solidFill>
                  <a:schemeClr val="tx1"/>
                </a:solidFill>
                <a:latin typeface="Arial MT"/>
                <a:ea typeface="+mn-ea"/>
              </a:rPr>
              <a:t>Solved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teaching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LangSmith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App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Insights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20" dirty="0">
                <a:latin typeface="Arial MT"/>
                <a:cs typeface="Arial MT"/>
              </a:rPr>
              <a:t> show </a:t>
            </a:r>
            <a:r>
              <a:rPr sz="1400" dirty="0">
                <a:latin typeface="Arial MT"/>
                <a:cs typeface="Arial MT"/>
              </a:rPr>
              <a:t>employers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you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know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how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peek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inside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"Black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Box"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AI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make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reliable.</a:t>
            </a:r>
            <a:endParaRPr sz="1400" dirty="0">
              <a:latin typeface="Arial MT"/>
              <a:cs typeface="Arial MT"/>
            </a:endParaRPr>
          </a:p>
          <a:p>
            <a:pPr marL="12700" marR="111760">
              <a:lnSpc>
                <a:spcPts val="1580"/>
              </a:lnSpc>
              <a:spcBef>
                <a:spcPts val="65"/>
              </a:spcBef>
            </a:pPr>
            <a:r>
              <a:rPr sz="1400" b="1" spc="-10" dirty="0">
                <a:latin typeface="Arial"/>
                <a:cs typeface="Arial"/>
              </a:rPr>
              <a:t>High-Value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Use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Case:</a:t>
            </a:r>
            <a:r>
              <a:rPr sz="1400" b="1" spc="-10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Automated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Compliance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multi-</a:t>
            </a:r>
            <a:r>
              <a:rPr sz="1400" dirty="0">
                <a:latin typeface="Arial MT"/>
                <a:cs typeface="Arial MT"/>
              </a:rPr>
              <a:t>billion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dollar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problem</a:t>
            </a:r>
            <a:r>
              <a:rPr sz="1400" spc="-25" dirty="0">
                <a:latin typeface="Arial MT"/>
                <a:cs typeface="Arial MT"/>
              </a:rPr>
              <a:t> in </a:t>
            </a:r>
            <a:r>
              <a:rPr sz="1400" dirty="0">
                <a:latin typeface="Arial MT"/>
                <a:cs typeface="Arial MT"/>
              </a:rPr>
              <a:t>Finance,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Healthcare,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Media.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project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builds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solution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exact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ts val="1610"/>
              </a:lnSpc>
            </a:pPr>
            <a:r>
              <a:rPr sz="1400" spc="-10" dirty="0">
                <a:latin typeface="Arial MT"/>
                <a:cs typeface="Arial MT"/>
              </a:rPr>
              <a:t>market.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876886"/>
              </p:ext>
            </p:extLst>
          </p:nvPr>
        </p:nvGraphicFramePr>
        <p:xfrm>
          <a:off x="120650" y="241300"/>
          <a:ext cx="7239000" cy="975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2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Module</a:t>
                      </a:r>
                      <a:endParaRPr sz="12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95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400" b="1" spc="-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Introduction</a:t>
                      </a:r>
                      <a:endParaRPr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0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Foundational</a:t>
                      </a:r>
                      <a:r>
                        <a:rPr sz="1000" b="1" spc="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Understanding</a:t>
                      </a:r>
                      <a:r>
                        <a:rPr sz="1000" b="1" spc="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000" b="1" spc="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000" b="1" spc="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endParaRPr sz="1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Deep</a:t>
                      </a:r>
                      <a:r>
                        <a:rPr sz="10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Dive</a:t>
                      </a:r>
                      <a:r>
                        <a:rPr sz="10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into</a:t>
                      </a:r>
                      <a:r>
                        <a:rPr sz="100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0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understanding</a:t>
                      </a:r>
                      <a:endParaRPr sz="1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000" b="1" spc="-3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Directory</a:t>
                      </a:r>
                      <a:r>
                        <a:rPr sz="1000" b="1" spc="-3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Structure</a:t>
                      </a:r>
                      <a:endParaRPr sz="10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95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400" b="1" spc="-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Setup</a:t>
                      </a:r>
                      <a:endParaRPr sz="140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255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Integrating</a:t>
                      </a:r>
                      <a:r>
                        <a:rPr sz="1050" b="1" spc="-6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Services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Part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509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Integrating</a:t>
                      </a:r>
                      <a:r>
                        <a:rPr sz="1050" b="1" spc="-6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Services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Part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081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95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Core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Logic</a:t>
                      </a:r>
                      <a:endParaRPr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Defining LangGraph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States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271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Defining LangGraph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Nodes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954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Building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573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Building</a:t>
                      </a:r>
                      <a:r>
                        <a:rPr sz="1050" b="1" spc="-3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r>
                        <a:rPr sz="105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Indexer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144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Building</a:t>
                      </a:r>
                      <a:r>
                        <a:rPr sz="105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Video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Indexer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1795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Monitoring</a:t>
                      </a:r>
                      <a:endParaRPr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Triggering</a:t>
                      </a:r>
                      <a:r>
                        <a:rPr sz="1050" b="1" spc="-3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workflow</a:t>
                      </a:r>
                      <a:r>
                        <a:rPr sz="1050" b="1" spc="-3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pipeline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9539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Checking Output and Langsmith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Tracing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573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Integrating</a:t>
                      </a:r>
                      <a:r>
                        <a:rPr sz="1050" b="1" spc="-1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FAST</a:t>
                      </a:r>
                      <a:r>
                        <a:rPr sz="1050" b="1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Open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Telemetry</a:t>
                      </a:r>
                      <a:endParaRPr sz="105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3208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1795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400" b="1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Execution</a:t>
                      </a:r>
                      <a:endParaRPr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192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77590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Checking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Output</a:t>
                      </a:r>
                      <a:r>
                        <a:rPr sz="1050" b="1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sz="1050" b="1" spc="-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sz="1050" b="1" spc="-4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Application</a:t>
                      </a:r>
                      <a:r>
                        <a:rPr sz="1050" b="1" spc="-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Insights</a:t>
                      </a:r>
                      <a:endParaRPr sz="105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DADADA"/>
                      </a:solidFill>
                      <a:prstDash val="solid"/>
                    </a:lnL>
                    <a:lnR w="9525">
                      <a:solidFill>
                        <a:srgbClr val="DADADA"/>
                      </a:solidFill>
                      <a:prstDash val="solid"/>
                    </a:lnR>
                    <a:lnT w="9525">
                      <a:solidFill>
                        <a:srgbClr val="DADADA"/>
                      </a:solidFill>
                      <a:prstDash val="solid"/>
                    </a:lnT>
                    <a:lnB w="9525">
                      <a:solidFill>
                        <a:srgbClr val="DADADA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2424" y="714373"/>
            <a:ext cx="6858000" cy="6477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925"/>
              </a:spcBef>
            </a:pPr>
            <a:r>
              <a:rPr sz="2000" dirty="0">
                <a:solidFill>
                  <a:srgbClr val="B6FF98"/>
                </a:solidFill>
                <a:latin typeface="Verdana"/>
                <a:cs typeface="Verdana"/>
              </a:rPr>
              <a:t>Tech</a:t>
            </a:r>
            <a:r>
              <a:rPr sz="2000" spc="-140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105" dirty="0">
                <a:solidFill>
                  <a:srgbClr val="B6FF98"/>
                </a:solidFill>
                <a:latin typeface="Verdana"/>
                <a:cs typeface="Verdana"/>
              </a:rPr>
              <a:t>Stack</a:t>
            </a:r>
            <a:r>
              <a:rPr sz="2000" spc="-140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565" dirty="0">
                <a:solidFill>
                  <a:srgbClr val="B6FF98"/>
                </a:solidFill>
                <a:latin typeface="Verdana"/>
                <a:cs typeface="Verdana"/>
              </a:rPr>
              <a:t>&amp;</a:t>
            </a:r>
            <a:r>
              <a:rPr sz="2000" spc="-135" dirty="0">
                <a:solidFill>
                  <a:srgbClr val="B6FF98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B6FF98"/>
                </a:solidFill>
                <a:latin typeface="Verdana"/>
                <a:cs typeface="Verdana"/>
              </a:rPr>
              <a:t>Tools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470742"/>
            <a:ext cx="6765925" cy="12731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70"/>
              </a:spcBef>
              <a:buFont typeface="Arial MT"/>
              <a:buAutoNum type="arabicPeriod"/>
              <a:tabLst>
                <a:tab pos="240029" algn="l"/>
              </a:tabLst>
            </a:pPr>
            <a:r>
              <a:rPr sz="1400" b="1" dirty="0">
                <a:latin typeface="Arial"/>
                <a:cs typeface="Arial"/>
              </a:rPr>
              <a:t>Cloud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Platform: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spc="-10" dirty="0">
                <a:latin typeface="Arial MT"/>
                <a:cs typeface="Arial MT"/>
              </a:rPr>
              <a:t>Microsoft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Azure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(Video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Indexer,</a:t>
            </a:r>
            <a:r>
              <a:rPr sz="1400" spc="-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AI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Search,</a:t>
            </a:r>
            <a:r>
              <a:rPr sz="1400" spc="-10" dirty="0">
                <a:latin typeface="Arial MT"/>
                <a:cs typeface="Arial MT"/>
              </a:rPr>
              <a:t> OpenAI,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</a:t>
            </a:r>
            <a:r>
              <a:rPr sz="1400" spc="-10" dirty="0">
                <a:latin typeface="Arial MT"/>
                <a:cs typeface="Arial MT"/>
              </a:rPr>
              <a:t> Insights)</a:t>
            </a:r>
            <a:endParaRPr sz="1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70"/>
              </a:spcBef>
              <a:buFont typeface="Arial MT"/>
              <a:buAutoNum type="arabicPeriod"/>
              <a:tabLst>
                <a:tab pos="240029" algn="l"/>
              </a:tabLst>
            </a:pPr>
            <a:r>
              <a:rPr sz="1400" b="1" dirty="0">
                <a:latin typeface="Arial"/>
                <a:cs typeface="Arial"/>
              </a:rPr>
              <a:t>Orchestration: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LangGraph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(Stateful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Agents)</a:t>
            </a:r>
            <a:endParaRPr sz="1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70"/>
              </a:spcBef>
              <a:buFont typeface="Arial MT"/>
              <a:buAutoNum type="arabicPeriod"/>
              <a:tabLst>
                <a:tab pos="240029" algn="l"/>
              </a:tabLst>
            </a:pPr>
            <a:r>
              <a:rPr sz="1400" b="1" dirty="0">
                <a:latin typeface="Arial"/>
                <a:cs typeface="Arial"/>
              </a:rPr>
              <a:t>Observability: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LangSmith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(LLM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Tracing),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Azure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Insights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(System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Monitoring)</a:t>
            </a:r>
            <a:endParaRPr sz="1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70"/>
              </a:spcBef>
              <a:buFont typeface="Arial MT"/>
              <a:buAutoNum type="arabicPeriod"/>
              <a:tabLst>
                <a:tab pos="240029" algn="l"/>
              </a:tabLst>
            </a:pPr>
            <a:r>
              <a:rPr sz="1400" b="1" dirty="0">
                <a:latin typeface="Arial"/>
                <a:cs typeface="Arial"/>
              </a:rPr>
              <a:t>Model: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spc="-30" dirty="0">
                <a:latin typeface="Arial MT"/>
                <a:cs typeface="Arial MT"/>
              </a:rPr>
              <a:t>GPT-</a:t>
            </a:r>
            <a:r>
              <a:rPr sz="1400" spc="-25" dirty="0">
                <a:latin typeface="Arial MT"/>
                <a:cs typeface="Arial MT"/>
              </a:rPr>
              <a:t>4o</a:t>
            </a:r>
            <a:endParaRPr sz="1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345"/>
              </a:spcBef>
              <a:buFont typeface="Arial MT"/>
              <a:buAutoNum type="arabicPeriod"/>
              <a:tabLst>
                <a:tab pos="240029" algn="l"/>
              </a:tabLst>
            </a:pPr>
            <a:r>
              <a:rPr sz="1400" b="1" dirty="0">
                <a:latin typeface="Arial"/>
                <a:cs typeface="Arial"/>
              </a:rPr>
              <a:t>Language: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 MT"/>
                <a:cs typeface="Arial MT"/>
              </a:rPr>
              <a:t>Python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FA185-D891-520A-CE96-0DC31556A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7876" y="2184400"/>
            <a:ext cx="10312251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9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ABD508-5C8A-B2FE-9603-62D57F5EB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1354"/>
            <a:ext cx="7556500" cy="469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5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B4127-C763-096A-7FAE-34652945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2100"/>
            <a:ext cx="7556500" cy="44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25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32DDD-C701-87B7-4D7D-659B5C841C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1116"/>
            <a:ext cx="7556500" cy="447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03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467</Words>
  <Application>Microsoft Office PowerPoint</Application>
  <PresentationFormat>Custom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Multi-Modal Compliance Orchestration Engine using LangGraph and LangSmith</dc:title>
  <dc:creator>Darius Bengali</dc:creator>
  <cp:keywords>DAG-r501i8s,BAGL286-tNA,0</cp:keywords>
  <cp:lastModifiedBy>Fardin Khan</cp:lastModifiedBy>
  <cp:revision>5</cp:revision>
  <dcterms:created xsi:type="dcterms:W3CDTF">2026-06-27T12:26:12Z</dcterms:created>
  <dcterms:modified xsi:type="dcterms:W3CDTF">2026-10-02T20:01:51Z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2026-01-17T00:00:00Z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2026-06-27T00:00:00Z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